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2279c1e98f34a87" /><Relationship Type="http://schemas.openxmlformats.org/officeDocument/2006/relationships/extended-properties" Target="/docProps/app.xml" Id="R9379f7e21cd94923" /><Relationship Type="http://schemas.openxmlformats.org/officeDocument/2006/relationships/officeDocument" Target="/ppt/presentation.xml" Id="R6958fc38b3994b2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c32d22ca4814e2d"/>
  </p:sldMasterIdLst>
  <p:notesMasterIdLst>
    <p:notesMasterId xmlns:r="http://schemas.openxmlformats.org/officeDocument/2006/relationships" r:id="R3479ea5098ff4fb5"/>
  </p:notesMasterIdLst>
  <p:sldIdLst>
    <p:sldId xmlns:r="http://schemas.openxmlformats.org/officeDocument/2006/relationships" id="256" r:id="R9b9e9b367ebc4a7c"/>
    <p:sldId xmlns:r="http://schemas.openxmlformats.org/officeDocument/2006/relationships" id="257" r:id="R7b20a0a58b904aaf"/>
    <p:sldId xmlns:r="http://schemas.openxmlformats.org/officeDocument/2006/relationships" id="258" r:id="Re83fc5c217154161"/>
  </p:sldIdLst>
  <p:sldSz cx="9144000" cy="5143500"/>
  <p:notesSz cx="6858000" cy="9144000"/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9e6e757579f4bb2" /><Relationship Type="http://schemas.openxmlformats.org/officeDocument/2006/relationships/slideMaster" Target="/ppt/slideMasters/slideMaster1.xml" Id="R5c32d22ca4814e2d" /><Relationship Type="http://schemas.openxmlformats.org/officeDocument/2006/relationships/notesMaster" Target="/ppt/notesMasters/notesMaster1.xml" Id="R3479ea5098ff4fb5" /><Relationship Type="http://schemas.openxmlformats.org/officeDocument/2006/relationships/presProps" Target="/ppt/presProps.xml" Id="R018c9a2c57ba41f4" /><Relationship Type="http://schemas.openxmlformats.org/officeDocument/2006/relationships/viewProps" Target="/ppt/viewProps.xml" Id="R217b4999270944b9" /><Relationship Type="http://schemas.openxmlformats.org/officeDocument/2006/relationships/tableStyles" Target="/ppt/tableStyles.xml" Id="Re77ec8508ff14b3a" /><Relationship Type="http://schemas.openxmlformats.org/officeDocument/2006/relationships/slide" Target="/ppt/slides/slide1.xml" Id="R9b9e9b367ebc4a7c" /><Relationship Type="http://schemas.openxmlformats.org/officeDocument/2006/relationships/slide" Target="/ppt/slides/slide2.xml" Id="R7b20a0a58b904aaf" /><Relationship Type="http://schemas.openxmlformats.org/officeDocument/2006/relationships/slide" Target="/ppt/slides/slide3.xml" Id="Re83fc5c21715416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5d640eabae94ab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2f6593f3a7c44c2" /><Relationship Type="http://schemas.openxmlformats.org/officeDocument/2006/relationships/notesMaster" Target="/ppt/notesMasters/notesMaster1.xml" Id="R8a4bd112287a4b6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f3845eb61e64789" /><Relationship Type="http://schemas.openxmlformats.org/officeDocument/2006/relationships/notesMaster" Target="/ppt/notesMasters/notesMaster1.xml" Id="R49f7896cd6d448a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701794959184768" /><Relationship Type="http://schemas.openxmlformats.org/officeDocument/2006/relationships/notesMaster" Target="/ppt/notesMasters/notesMaster1.xml" Id="R449c632d3cd7403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JanaMen — проект команды 37 для кейса Digital HR. Демонстрационные люди, правила и данные синтетические.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Платформа объединяет HR-процессы, заявки на отпуск и аванс, каталог обучения и поиск по внутренним документам. Кадровые факты только для чтения. Данные в презентации демонстрационные. 1С:ЗУП и Documentolog представлены mock-интеграциями.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Синтетический пример. HR публикует новую редакцию правила. Сотрудник видит «Раньше / Теперь» и отвечает на практический вопрос. Руководитель проверяет, кто ознакомился. Неверный ответ можно исправить повторной попыткой. Демонстрационный регламент не является правилом Jana Post. Браузерная и публичная приёмка именно этого нового сценария не подтверждена.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979087a987446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3482b6277740b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f033c4b45d476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4b30337a0e491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6b3c107ac5414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c30362300f48b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f3a754549e42e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e83cac568649f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34477ed30c44f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a0308680c9419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e31f6f23534195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5">
            <a:extLst xmlns:a="http://schemas.openxmlformats.org/drawingml/2006/main">
              <a:ext uri="{FF2B5EF4-FFF2-40B4-BE49-F238E27FC236}">
                <a16:creationId xmlns:a16="http://schemas.microsoft.com/office/drawing/2014/main" id="{B99974B6-E695-447F-8C1D-52A82D09E04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5">
            <a:extLst xmlns:a="http://schemas.openxmlformats.org/drawingml/2006/main">
              <a:ext uri="{FF2B5EF4-FFF2-40B4-BE49-F238E27FC236}">
                <a16:creationId xmlns:a16="http://schemas.microsoft.com/office/drawing/2014/main" id="{E449928D-919B-4913-9DBF-1C442B2BD79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5">
            <a:extLst xmlns:a="http://schemas.openxmlformats.org/drawingml/2006/main">
              <a:ext uri="{FF2B5EF4-FFF2-40B4-BE49-F238E27FC236}">
                <a16:creationId xmlns:a16="http://schemas.microsoft.com/office/drawing/2014/main" id="{72E59799-3B60-4882-81A8-4D23A0612B5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6">
            <a:extLst xmlns:a="http://schemas.openxmlformats.org/drawingml/2006/main">
              <a:ext uri="{FF2B5EF4-FFF2-40B4-BE49-F238E27FC236}">
                <a16:creationId xmlns:a16="http://schemas.microsoft.com/office/drawing/2014/main" id="{0898942F-1A74-49B9-9BE0-B82D4B60C4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5" name="Google Shape;15;p6">
            <a:extLst xmlns:a="http://schemas.openxmlformats.org/drawingml/2006/main">
              <a:ext uri="{FF2B5EF4-FFF2-40B4-BE49-F238E27FC236}">
                <a16:creationId xmlns:a16="http://schemas.microsoft.com/office/drawing/2014/main" id="{3444D056-BDB0-42D9-9F35-1CBAC0B40C3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6" name="Google Shape;16;p6">
            <a:extLst xmlns:a="http://schemas.openxmlformats.org/drawingml/2006/main">
              <a:ext uri="{FF2B5EF4-FFF2-40B4-BE49-F238E27FC236}">
                <a16:creationId xmlns:a16="http://schemas.microsoft.com/office/drawing/2014/main" id="{7CCA6BE3-BAD5-4ADC-AD80-F82C6431973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Google Shape;18;p7">
            <a:extLst xmlns:a="http://schemas.openxmlformats.org/drawingml/2006/main">
              <a:ext uri="{FF2B5EF4-FFF2-40B4-BE49-F238E27FC236}">
                <a16:creationId xmlns:a16="http://schemas.microsoft.com/office/drawing/2014/main" id="{9F3D211A-52DD-40ED-9ACC-8F0E105D98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9" name="Google Shape;19;p7">
            <a:extLst xmlns:a="http://schemas.openxmlformats.org/drawingml/2006/main">
              <a:ext uri="{FF2B5EF4-FFF2-40B4-BE49-F238E27FC236}">
                <a16:creationId xmlns:a16="http://schemas.microsoft.com/office/drawing/2014/main" id="{48B822D9-CDF8-4A4D-91BC-0D8CF1BA9B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8">
            <a:extLst xmlns:a="http://schemas.openxmlformats.org/drawingml/2006/main">
              <a:ext uri="{FF2B5EF4-FFF2-40B4-BE49-F238E27FC236}">
                <a16:creationId xmlns:a16="http://schemas.microsoft.com/office/drawing/2014/main" id="{F64E00F2-0AC2-4457-B3A0-EE6642CEBB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8">
            <a:extLst xmlns:a="http://schemas.openxmlformats.org/drawingml/2006/main">
              <a:ext uri="{FF2B5EF4-FFF2-40B4-BE49-F238E27FC236}">
                <a16:creationId xmlns:a16="http://schemas.microsoft.com/office/drawing/2014/main" id="{1144BB71-5580-46F7-83B1-C80C17851E7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8">
            <a:extLst xmlns:a="http://schemas.openxmlformats.org/drawingml/2006/main">
              <a:ext uri="{FF2B5EF4-FFF2-40B4-BE49-F238E27FC236}">
                <a16:creationId xmlns:a16="http://schemas.microsoft.com/office/drawing/2014/main" id="{253D76BD-EEF3-445D-820B-BBA5A24C235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8">
            <a:extLst xmlns:a="http://schemas.openxmlformats.org/drawingml/2006/main">
              <a:ext uri="{FF2B5EF4-FFF2-40B4-BE49-F238E27FC236}">
                <a16:creationId xmlns:a16="http://schemas.microsoft.com/office/drawing/2014/main" id="{48F221FA-4915-4936-9837-ED852D7D60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9">
            <a:extLst xmlns:a="http://schemas.openxmlformats.org/drawingml/2006/main">
              <a:ext uri="{FF2B5EF4-FFF2-40B4-BE49-F238E27FC236}">
                <a16:creationId xmlns:a16="http://schemas.microsoft.com/office/drawing/2014/main" id="{943863D2-19CB-4F21-9930-6FB173E803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9">
            <a:extLst xmlns:a="http://schemas.openxmlformats.org/drawingml/2006/main">
              <a:ext uri="{FF2B5EF4-FFF2-40B4-BE49-F238E27FC236}">
                <a16:creationId xmlns:a16="http://schemas.microsoft.com/office/drawing/2014/main" id="{D68DB300-2121-40D6-85B3-6EBC2ECD976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10">
            <a:extLst xmlns:a="http://schemas.openxmlformats.org/drawingml/2006/main">
              <a:ext uri="{FF2B5EF4-FFF2-40B4-BE49-F238E27FC236}">
                <a16:creationId xmlns:a16="http://schemas.microsoft.com/office/drawing/2014/main" id="{3842829C-55D0-4B66-9931-58D8E828A05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10">
            <a:extLst xmlns:a="http://schemas.openxmlformats.org/drawingml/2006/main">
              <a:ext uri="{FF2B5EF4-FFF2-40B4-BE49-F238E27FC236}">
                <a16:creationId xmlns:a16="http://schemas.microsoft.com/office/drawing/2014/main" id="{13D6EBB1-A953-420C-A134-8C5BD36D461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10">
            <a:extLst xmlns:a="http://schemas.openxmlformats.org/drawingml/2006/main">
              <a:ext uri="{FF2B5EF4-FFF2-40B4-BE49-F238E27FC236}">
                <a16:creationId xmlns:a16="http://schemas.microsoft.com/office/drawing/2014/main" id="{815C2D66-3D98-4E8A-B85A-A9CCE267F36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11">
            <a:extLst xmlns:a="http://schemas.openxmlformats.org/drawingml/2006/main">
              <a:ext uri="{FF2B5EF4-FFF2-40B4-BE49-F238E27FC236}">
                <a16:creationId xmlns:a16="http://schemas.microsoft.com/office/drawing/2014/main" id="{60EA6B31-6CB9-4540-BCAA-CF4A801BCF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11">
            <a:extLst xmlns:a="http://schemas.openxmlformats.org/drawingml/2006/main">
              <a:ext uri="{FF2B5EF4-FFF2-40B4-BE49-F238E27FC236}">
                <a16:creationId xmlns:a16="http://schemas.microsoft.com/office/drawing/2014/main" id="{4D587F19-84EE-4E84-B980-FF1B2FFE979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12">
            <a:extLst xmlns:a="http://schemas.openxmlformats.org/drawingml/2006/main">
              <a:ext uri="{FF2B5EF4-FFF2-40B4-BE49-F238E27FC236}">
                <a16:creationId xmlns:a16="http://schemas.microsoft.com/office/drawing/2014/main" id="{95E507A5-3EE2-494A-A45A-E22BB57E8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Google Shape;37;p12">
            <a:extLst xmlns:a="http://schemas.openxmlformats.org/drawingml/2006/main">
              <a:ext uri="{FF2B5EF4-FFF2-40B4-BE49-F238E27FC236}">
                <a16:creationId xmlns:a16="http://schemas.microsoft.com/office/drawing/2014/main" id="{9E44671B-0C77-4D17-953B-1C38B7848D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12">
            <a:extLst xmlns:a="http://schemas.openxmlformats.org/drawingml/2006/main">
              <a:ext uri="{FF2B5EF4-FFF2-40B4-BE49-F238E27FC236}">
                <a16:creationId xmlns:a16="http://schemas.microsoft.com/office/drawing/2014/main" id="{3F2228B7-8B41-485A-8127-4A6AAADC7C9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12">
            <a:extLst xmlns:a="http://schemas.openxmlformats.org/drawingml/2006/main">
              <a:ext uri="{FF2B5EF4-FFF2-40B4-BE49-F238E27FC236}">
                <a16:creationId xmlns:a16="http://schemas.microsoft.com/office/drawing/2014/main" id="{AB0DFF35-5550-4447-A187-223639ED75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12">
            <a:extLst xmlns:a="http://schemas.openxmlformats.org/drawingml/2006/main">
              <a:ext uri="{FF2B5EF4-FFF2-40B4-BE49-F238E27FC236}">
                <a16:creationId xmlns:a16="http://schemas.microsoft.com/office/drawing/2014/main" id="{F838A6CF-9AFF-44D6-8EC1-859C08302D0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3">
            <a:extLst xmlns:a="http://schemas.openxmlformats.org/drawingml/2006/main">
              <a:ext uri="{FF2B5EF4-FFF2-40B4-BE49-F238E27FC236}">
                <a16:creationId xmlns:a16="http://schemas.microsoft.com/office/drawing/2014/main" id="{860C786C-77AD-4B4F-A1E5-4F85DB2C0ED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3">
            <a:extLst xmlns:a="http://schemas.openxmlformats.org/drawingml/2006/main">
              <a:ext uri="{FF2B5EF4-FFF2-40B4-BE49-F238E27FC236}">
                <a16:creationId xmlns:a16="http://schemas.microsoft.com/office/drawing/2014/main" id="{17CFA8DA-C1A6-49AE-A717-2BEE0375A8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4">
            <a:extLst xmlns:a="http://schemas.openxmlformats.org/drawingml/2006/main">
              <a:ext uri="{FF2B5EF4-FFF2-40B4-BE49-F238E27FC236}">
                <a16:creationId xmlns:a16="http://schemas.microsoft.com/office/drawing/2014/main" id="{C197854B-9CC7-4CD7-852C-2471C2D4057A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4">
            <a:extLst xmlns:a="http://schemas.openxmlformats.org/drawingml/2006/main">
              <a:ext uri="{FF2B5EF4-FFF2-40B4-BE49-F238E27FC236}">
                <a16:creationId xmlns:a16="http://schemas.microsoft.com/office/drawing/2014/main" id="{3271B577-0348-4D9E-8657-75AB62C729D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4">
            <a:extLst xmlns:a="http://schemas.openxmlformats.org/drawingml/2006/main">
              <a:ext uri="{FF2B5EF4-FFF2-40B4-BE49-F238E27FC236}">
                <a16:creationId xmlns:a16="http://schemas.microsoft.com/office/drawing/2014/main" id="{EF25DD13-E485-43E4-8B90-E184B35337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5">
            <a:extLst xmlns:a="http://schemas.openxmlformats.org/drawingml/2006/main">
              <a:ext uri="{FF2B5EF4-FFF2-40B4-BE49-F238E27FC236}">
                <a16:creationId xmlns:a16="http://schemas.microsoft.com/office/drawing/2014/main" id="{57B24D39-F76D-41BC-9B5B-8D54E2BF374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3181d05c2974647" /><Relationship Type="http://schemas.openxmlformats.org/officeDocument/2006/relationships/slideLayout" Target="/ppt/slideLayouts/slideLayout1.xml" Id="Rb472c96d52274a4d" /><Relationship Type="http://schemas.openxmlformats.org/officeDocument/2006/relationships/slideLayout" Target="/ppt/slideLayouts/slideLayout2.xml" Id="Ra63e8018d9a0456a" /><Relationship Type="http://schemas.openxmlformats.org/officeDocument/2006/relationships/slideLayout" Target="/ppt/slideLayouts/slideLayout3.xml" Id="Re09dd98d42bb4dc7" /><Relationship Type="http://schemas.openxmlformats.org/officeDocument/2006/relationships/slideLayout" Target="/ppt/slideLayouts/slideLayout4.xml" Id="R5ea3ff465c624fee" /><Relationship Type="http://schemas.openxmlformats.org/officeDocument/2006/relationships/slideLayout" Target="/ppt/slideLayouts/slideLayout5.xml" Id="R98d47c97f3b647c5" /><Relationship Type="http://schemas.openxmlformats.org/officeDocument/2006/relationships/slideLayout" Target="/ppt/slideLayouts/slideLayout6.xml" Id="Redab694ee89c481a" /><Relationship Type="http://schemas.openxmlformats.org/officeDocument/2006/relationships/slideLayout" Target="/ppt/slideLayouts/slideLayout7.xml" Id="Ree7e9be1802b4ef3" /><Relationship Type="http://schemas.openxmlformats.org/officeDocument/2006/relationships/slideLayout" Target="/ppt/slideLayouts/slideLayout8.xml" Id="R7c8e32f4217c4024" /><Relationship Type="http://schemas.openxmlformats.org/officeDocument/2006/relationships/slideLayout" Target="/ppt/slideLayouts/slideLayout9.xml" Id="R0ab2b79b16bd4722" /><Relationship Type="http://schemas.openxmlformats.org/officeDocument/2006/relationships/slideLayout" Target="/ppt/slideLayouts/slideLayout10.xml" Id="R8bdac9857f424c60" /><Relationship Type="http://schemas.openxmlformats.org/officeDocument/2006/relationships/slideLayout" Target="/ppt/slideLayouts/slideLayout11.xml" Id="Rd2c1763e00814ab7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4">
            <a:extLst xmlns:a="http://schemas.openxmlformats.org/drawingml/2006/main">
              <a:ext uri="{FF2B5EF4-FFF2-40B4-BE49-F238E27FC236}">
                <a16:creationId xmlns:a16="http://schemas.microsoft.com/office/drawing/2014/main" id="{A6DA4375-7445-4ED2-A3A6-F1C66E63BE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7" name="Google Shape;7;p4">
            <a:extLst xmlns:a="http://schemas.openxmlformats.org/drawingml/2006/main">
              <a:ext uri="{FF2B5EF4-FFF2-40B4-BE49-F238E27FC236}">
                <a16:creationId xmlns:a16="http://schemas.microsoft.com/office/drawing/2014/main" id="{2218E8DA-869C-4FCB-A6B9-CE6BB17F39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marR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914400" marR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1371600" marR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1828800" marR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2286000" marR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2743200" marR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3200400" marR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3657600" marR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4114800" marR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8" name="Google Shape;8;p4">
            <a:extLst xmlns:a="http://schemas.openxmlformats.org/drawingml/2006/main">
              <a:ext uri="{FF2B5EF4-FFF2-40B4-BE49-F238E27FC236}">
                <a16:creationId xmlns:a16="http://schemas.microsoft.com/office/drawing/2014/main" id="{BADC514C-9B80-4316-AE10-6EC7CCB9C8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472c96d52274a4d"/>
    <p:sldLayoutId xmlns:r="http://schemas.openxmlformats.org/officeDocument/2006/relationships" id="2147483650" r:id="Ra63e8018d9a0456a"/>
    <p:sldLayoutId xmlns:r="http://schemas.openxmlformats.org/officeDocument/2006/relationships" id="2147483651" r:id="Re09dd98d42bb4dc7"/>
    <p:sldLayoutId xmlns:r="http://schemas.openxmlformats.org/officeDocument/2006/relationships" id="2147483652" r:id="R5ea3ff465c624fee"/>
    <p:sldLayoutId xmlns:r="http://schemas.openxmlformats.org/officeDocument/2006/relationships" id="2147483653" r:id="R98d47c97f3b647c5"/>
    <p:sldLayoutId xmlns:r="http://schemas.openxmlformats.org/officeDocument/2006/relationships" id="2147483654" r:id="Redab694ee89c481a"/>
    <p:sldLayoutId xmlns:r="http://schemas.openxmlformats.org/officeDocument/2006/relationships" id="2147483655" r:id="Ree7e9be1802b4ef3"/>
    <p:sldLayoutId xmlns:r="http://schemas.openxmlformats.org/officeDocument/2006/relationships" id="2147483656" r:id="R7c8e32f4217c4024"/>
    <p:sldLayoutId xmlns:r="http://schemas.openxmlformats.org/officeDocument/2006/relationships" id="2147483657" r:id="R0ab2b79b16bd4722"/>
    <p:sldLayoutId xmlns:r="http://schemas.openxmlformats.org/officeDocument/2006/relationships" id="2147483658" r:id="R8bdac9857f424c60"/>
    <p:sldLayoutId xmlns:r="http://schemas.openxmlformats.org/officeDocument/2006/relationships" id="2147483659" r:id="Rd2c1763e00814ab7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c5ffd064f74af3" /><Relationship Type="http://schemas.openxmlformats.org/officeDocument/2006/relationships/image" Target="/ppt/media/image.png" Id="Rf2a9ee7986e0429e" /><Relationship Type="http://schemas.openxmlformats.org/officeDocument/2006/relationships/notesSlide" Target="/ppt/notesSlides/notesSlide1.xml" Id="Recab0af7f4cc46d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91e65b59914043" /><Relationship Type="http://schemas.openxmlformats.org/officeDocument/2006/relationships/notesSlide" Target="/ppt/notesSlides/notesSlide2.xml" Id="Re48489ead6064cf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38c99be9954180" /><Relationship Type="http://schemas.openxmlformats.org/officeDocument/2006/relationships/notesSlide" Target="/ppt/notesSlides/notesSlide3.xml" Id="Rca2b2a13792b48f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Google Shape;54;p1">
            <a:extLst xmlns:a="http://schemas.openxmlformats.org/drawingml/2006/main">
              <a:ext uri="{FF2B5EF4-FFF2-40B4-BE49-F238E27FC236}">
                <a16:creationId xmlns:a16="http://schemas.microsoft.com/office/drawing/2014/main" id="{7DAFB301-2E65-46FF-8D32-39957C9049E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t>JanaMen</a:t>
            </a:r>
            <a:endParaRPr/>
          </a:p>
        </p:txBody>
      </p:sp>
      <p:sp>
        <p:nvSpPr>
          <p:cNvPr id="55" name="Google Shape;55;p1">
            <a:extLst xmlns:a="http://schemas.openxmlformats.org/drawingml/2006/main">
              <a:ext uri="{FF2B5EF4-FFF2-40B4-BE49-F238E27FC236}">
                <a16:creationId xmlns:a16="http://schemas.microsoft.com/office/drawing/2014/main" id="{B76AC645-DA90-4CE6-A558-5BF300FB8D1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>Кейс Digital HR · Команда 37</a:t>
            </a:r>
            <a:endParaRPr/>
          </a:p>
        </p:txBody>
      </p:sp>
      <p:pic>
        <p:nvPicPr>
          <p:cNvPr id="56" name="Google Shape;56;p1">
            <a:extLst xmlns:a="http://schemas.openxmlformats.org/drawingml/2006/main">
              <a:ext uri="{FF2B5EF4-FFF2-40B4-BE49-F238E27FC236}">
                <a16:creationId xmlns:a16="http://schemas.microsoft.com/office/drawing/2014/main" id="{72EF2277-9F75-4EC4-BAB0-50343193C64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2a9ee7986e0429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4356099" cy="7445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7" name="Google Shape;57;p1">
            <a:extLst xmlns:a="http://schemas.openxmlformats.org/drawingml/2006/main">
              <a:ext uri="{FF2B5EF4-FFF2-40B4-BE49-F238E27FC236}">
                <a16:creationId xmlns:a16="http://schemas.microsoft.com/office/drawing/2014/main" id="{348BD0D1-F3CC-487B-9911-D81F18BCD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6575" y="4670225"/>
            <a:ext cx="2316000" cy="39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Караганда ·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4339569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Google Shape;62;p2">
            <a:extLst xmlns:a="http://schemas.openxmlformats.org/drawingml/2006/main">
              <a:ext uri="{FF2B5EF4-FFF2-40B4-BE49-F238E27FC236}">
                <a16:creationId xmlns:a16="http://schemas.microsoft.com/office/drawing/2014/main" id="{6AEB8462-0CDB-43A2-A3E9-76A5B10C14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 fontScale="9136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t>Краткое описание проделанной работы</a:t>
            </a:r>
            <a:endParaRPr/>
          </a:p>
        </p:txBody>
      </p:sp>
      <p:sp>
        <p:nvSpPr>
          <p:cNvPr id="63" name="overview lead">
            <a:extLst xmlns:a="http://schemas.openxmlformats.org/drawingml/2006/main">
              <a:ext uri="{FF2B5EF4-FFF2-40B4-BE49-F238E27FC236}">
                <a16:creationId xmlns:a16="http://schemas.microsoft.com/office/drawing/2014/main" id="{5DDC18AC-6CED-47EB-B863-279648744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19200"/>
            <a:ext cx="834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Единая HR-платформа для сотрудников Jana Post.</a:t>
            </a:r>
          </a:p>
        </p:txBody>
      </p:sp>
      <p:sp>
        <p:nvSpPr>
          <p:cNvPr id="64" name="overview heading 1">
            <a:extLst xmlns:a="http://schemas.openxmlformats.org/drawingml/2006/main">
              <a:ext uri="{FF2B5EF4-FFF2-40B4-BE49-F238E27FC236}">
                <a16:creationId xmlns:a16="http://schemas.microsoft.com/office/drawing/2014/main" id="{3807CD3A-C1ED-48D6-941A-A01C50D7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209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Заявки</a:t>
            </a:r>
          </a:p>
        </p:txBody>
      </p:sp>
      <p:sp>
        <p:nvSpPr>
          <p:cNvPr id="65" name="overview detail 1">
            <a:extLst xmlns:a="http://schemas.openxmlformats.org/drawingml/2006/main">
              <a:ext uri="{FF2B5EF4-FFF2-40B4-BE49-F238E27FC236}">
                <a16:creationId xmlns:a16="http://schemas.microsoft.com/office/drawing/2014/main" id="{D86B9B0F-05C4-4A48-BD26-897A26AE1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809750"/>
            <a:ext cx="626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5959"/>
                </a:solidFill>
                <a:latin typeface="Arial"/>
                <a:ea typeface="Arial"/>
                <a:cs typeface="Arial"/>
              </a:rPr>
              <a:t>Отпуск и аванс: подача, статусы и история решения.</a:t>
            </a:r>
          </a:p>
        </p:txBody>
      </p:sp>
      <p:sp>
        <p:nvSpPr>
          <p:cNvPr id="66" name="overview heading 2">
            <a:extLst xmlns:a="http://schemas.openxmlformats.org/drawingml/2006/main">
              <a:ext uri="{FF2B5EF4-FFF2-40B4-BE49-F238E27FC236}">
                <a16:creationId xmlns:a16="http://schemas.microsoft.com/office/drawing/2014/main" id="{E53202A5-D1CB-4C07-9BB7-4B9AEF462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28875"/>
            <a:ext cx="209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Обучение</a:t>
            </a:r>
          </a:p>
        </p:txBody>
      </p:sp>
      <p:sp>
        <p:nvSpPr>
          <p:cNvPr id="67" name="overview detail 2">
            <a:extLst xmlns:a="http://schemas.openxmlformats.org/drawingml/2006/main">
              <a:ext uri="{FF2B5EF4-FFF2-40B4-BE49-F238E27FC236}">
                <a16:creationId xmlns:a16="http://schemas.microsoft.com/office/drawing/2014/main" id="{1C89A93F-0200-46DE-8B9C-BA39FFF85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428875"/>
            <a:ext cx="626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5959"/>
                </a:solidFill>
                <a:latin typeface="Arial"/>
                <a:ea typeface="Arial"/>
                <a:cs typeface="Arial"/>
              </a:rPr>
              <a:t>Jana Academy хранит прогресс по 30 курсам.</a:t>
            </a:r>
          </a:p>
        </p:txBody>
      </p:sp>
      <p:sp>
        <p:nvSpPr>
          <p:cNvPr id="68" name="overview heading 3">
            <a:extLst xmlns:a="http://schemas.openxmlformats.org/drawingml/2006/main">
              <a:ext uri="{FF2B5EF4-FFF2-40B4-BE49-F238E27FC236}">
                <a16:creationId xmlns:a16="http://schemas.microsoft.com/office/drawing/2014/main" id="{634EF6A4-5DFB-4567-83DD-178374879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0"/>
            <a:ext cx="209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Помощник Jana</a:t>
            </a:r>
          </a:p>
        </p:txBody>
      </p:sp>
      <p:sp>
        <p:nvSpPr>
          <p:cNvPr id="69" name="overview detail 3">
            <a:extLst xmlns:a="http://schemas.openxmlformats.org/drawingml/2006/main">
              <a:ext uri="{FF2B5EF4-FFF2-40B4-BE49-F238E27FC236}">
                <a16:creationId xmlns:a16="http://schemas.microsoft.com/office/drawing/2014/main" id="{A3CC20A2-1A1D-4B11-8C1E-5520D9AE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48000"/>
            <a:ext cx="626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5959"/>
                </a:solidFill>
                <a:latin typeface="Arial"/>
                <a:ea typeface="Arial"/>
                <a:cs typeface="Arial"/>
              </a:rPr>
              <a:t>Отвечает по документам и указывает источник.</a:t>
            </a:r>
          </a:p>
        </p:txBody>
      </p:sp>
      <p:sp>
        <p:nvSpPr>
          <p:cNvPr id="70" name="overview heading 4">
            <a:extLst xmlns:a="http://schemas.openxmlformats.org/drawingml/2006/main">
              <a:ext uri="{FF2B5EF4-FFF2-40B4-BE49-F238E27FC236}">
                <a16:creationId xmlns:a16="http://schemas.microsoft.com/office/drawing/2014/main" id="{BD1CC4F2-2CC6-47F2-A810-3466B33E2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67125"/>
            <a:ext cx="209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Роли</a:t>
            </a:r>
          </a:p>
        </p:txBody>
      </p:sp>
      <p:sp>
        <p:nvSpPr>
          <p:cNvPr id="71" name="overview detail 4">
            <a:extLst xmlns:a="http://schemas.openxmlformats.org/drawingml/2006/main">
              <a:ext uri="{FF2B5EF4-FFF2-40B4-BE49-F238E27FC236}">
                <a16:creationId xmlns:a16="http://schemas.microsoft.com/office/drawing/2014/main" id="{1507A9CB-E839-4768-BB32-CDDA63248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667125"/>
            <a:ext cx="626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5959"/>
                </a:solidFill>
                <a:latin typeface="Arial"/>
                <a:ea typeface="Arial"/>
                <a:cs typeface="Arial"/>
              </a:rPr>
              <a:t>Сотрудник, руководитель и HR видят свои рабочие процессы.</a:t>
            </a:r>
          </a:p>
        </p:txBody>
      </p:sp>
    </p:spTree>
    <p:extLst>
      <p:ext uri="{BB962C8B-B14F-4D97-AF65-F5344CB8AC3E}">
        <p14:creationId xmlns:p14="http://schemas.microsoft.com/office/powerpoint/2010/main" val="113168622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" name="Google Shape;68;p3">
            <a:extLst xmlns:a="http://schemas.openxmlformats.org/drawingml/2006/main">
              <a:ext uri="{FF2B5EF4-FFF2-40B4-BE49-F238E27FC236}">
                <a16:creationId xmlns:a16="http://schemas.microsoft.com/office/drawing/2014/main" id="{0E145F6E-33DF-4AE3-BF73-662C7026BF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 fontScale="9136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t>Демонстрация прототипа</a:t>
            </a:r>
            <a:endParaRPr/>
          </a:p>
        </p:txBody>
      </p:sp>
      <p:sp>
        <p:nvSpPr>
          <p:cNvPr id="69" name="demo label">
            <a:extLst xmlns:a="http://schemas.openxmlformats.org/drawingml/2006/main">
              <a:ext uri="{FF2B5EF4-FFF2-40B4-BE49-F238E27FC236}">
                <a16:creationId xmlns:a16="http://schemas.microsoft.com/office/drawing/2014/main" id="{4D39AC91-771B-437E-B71E-09959E373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95959"/>
                </a:solidFill>
                <a:latin typeface="Arial"/>
                <a:ea typeface="Arial"/>
                <a:cs typeface="Arial"/>
              </a:rPr>
              <a:t>ОБНОВЛЕНИЕ ПРАВИЛА</a:t>
            </a:r>
          </a:p>
        </p:txBody>
      </p:sp>
      <p:sp>
        <p:nvSpPr>
          <p:cNvPr id="70" name="before label">
            <a:extLst xmlns:a="http://schemas.openxmlformats.org/drawingml/2006/main">
              <a:ext uri="{FF2B5EF4-FFF2-40B4-BE49-F238E27FC236}">
                <a16:creationId xmlns:a16="http://schemas.microsoft.com/office/drawing/2014/main" id="{36C6281C-8E73-4745-A680-8EFC5E227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71625"/>
            <a:ext cx="3857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95959"/>
                </a:solidFill>
                <a:latin typeface="Arial"/>
                <a:ea typeface="Arial"/>
                <a:cs typeface="Arial"/>
              </a:rPr>
              <a:t>РАНЬШЕ</a:t>
            </a:r>
          </a:p>
        </p:txBody>
      </p:sp>
      <p:sp>
        <p:nvSpPr>
          <p:cNvPr id="71" name="before text">
            <a:extLst xmlns:a="http://schemas.openxmlformats.org/drawingml/2006/main">
              <a:ext uri="{FF2B5EF4-FFF2-40B4-BE49-F238E27FC236}">
                <a16:creationId xmlns:a16="http://schemas.microsoft.com/office/drawing/2014/main" id="{4E2DEBC6-36DB-44FC-B149-1A95E0B2F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76425"/>
            <a:ext cx="38576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95959"/>
                </a:solidFill>
                <a:latin typeface="Arial"/>
                <a:ea typeface="Arial"/>
                <a:cs typeface="Arial"/>
              </a:rPr>
              <a:t>Зафиксировать передачу смены в журнале и указать следующего сотрудника.</a:t>
            </a:r>
          </a:p>
        </p:txBody>
      </p:sp>
      <p:sp>
        <p:nvSpPr>
          <p:cNvPr id="72" name="before now divider">
            <a:extLst xmlns:a="http://schemas.openxmlformats.org/drawingml/2006/main">
              <a:ext uri="{FF2B5EF4-FFF2-40B4-BE49-F238E27FC236}">
                <a16:creationId xmlns:a16="http://schemas.microsoft.com/office/drawing/2014/main" id="{7C22B58B-3EE4-47CA-A89F-CB4699D1B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1543050"/>
            <a:ext cx="9525" cy="1362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now label">
            <a:extLst xmlns:a="http://schemas.openxmlformats.org/drawingml/2006/main">
              <a:ext uri="{FF2B5EF4-FFF2-40B4-BE49-F238E27FC236}">
                <a16:creationId xmlns:a16="http://schemas.microsoft.com/office/drawing/2014/main" id="{6AB2E8C5-CCCF-4CE5-A0CD-FD5575ACC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571625"/>
            <a:ext cx="3867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95959"/>
                </a:solidFill>
                <a:latin typeface="Arial"/>
                <a:ea typeface="Arial"/>
                <a:cs typeface="Arial"/>
              </a:rPr>
              <a:t>ТЕПЕРЬ</a:t>
            </a:r>
          </a:p>
        </p:txBody>
      </p:sp>
      <p:sp>
        <p:nvSpPr>
          <p:cNvPr id="74" name="now text">
            <a:extLst xmlns:a="http://schemas.openxmlformats.org/drawingml/2006/main">
              <a:ext uri="{FF2B5EF4-FFF2-40B4-BE49-F238E27FC236}">
                <a16:creationId xmlns:a16="http://schemas.microsoft.com/office/drawing/2014/main" id="{6146572A-39A6-4956-8C98-719AD0200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876425"/>
            <a:ext cx="38671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Если принимающий опаздывает, оставить запись открытой до подтверждения.</a:t>
            </a:r>
          </a:p>
        </p:txBody>
      </p:sp>
      <p:sp>
        <p:nvSpPr>
          <p:cNvPr id="75" name="question divider">
            <a:extLst xmlns:a="http://schemas.openxmlformats.org/drawingml/2006/main">
              <a:ext uri="{FF2B5EF4-FFF2-40B4-BE49-F238E27FC236}">
                <a16:creationId xmlns:a16="http://schemas.microsoft.com/office/drawing/2014/main" id="{A73D7CB6-57EC-4975-8A29-AABCC69F4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67050"/>
            <a:ext cx="8343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5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quiz label">
            <a:extLst xmlns:a="http://schemas.openxmlformats.org/drawingml/2006/main">
              <a:ext uri="{FF2B5EF4-FFF2-40B4-BE49-F238E27FC236}">
                <a16:creationId xmlns:a16="http://schemas.microsoft.com/office/drawing/2014/main" id="{951250EB-49AC-43DF-A12A-E399FC3C0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0"/>
            <a:ext cx="834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59595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95959"/>
                </a:solidFill>
                <a:latin typeface="Arial"/>
                <a:ea typeface="Arial"/>
                <a:cs typeface="Arial"/>
              </a:rPr>
              <a:t>ВОПРОС СОТРУДНИКУ</a:t>
            </a:r>
          </a:p>
        </p:txBody>
      </p:sp>
      <p:sp>
        <p:nvSpPr>
          <p:cNvPr id="77" name="quiz">
            <a:extLst xmlns:a="http://schemas.openxmlformats.org/drawingml/2006/main">
              <a:ext uri="{FF2B5EF4-FFF2-40B4-BE49-F238E27FC236}">
                <a16:creationId xmlns:a16="http://schemas.microsoft.com/office/drawing/2014/main" id="{AB846B64-C03D-4EED-ABA2-569EEECFD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86150"/>
            <a:ext cx="834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Когда закрыть запись, если коллега ещё не подтвердил смену?</a:t>
            </a:r>
          </a:p>
        </p:txBody>
      </p:sp>
      <p:sp>
        <p:nvSpPr>
          <p:cNvPr id="78" name="workflow">
            <a:extLst xmlns:a="http://schemas.openxmlformats.org/drawingml/2006/main">
              <a:ext uri="{FF2B5EF4-FFF2-40B4-BE49-F238E27FC236}">
                <a16:creationId xmlns:a16="http://schemas.microsoft.com/office/drawing/2014/main" id="{AEC24773-9C17-44C1-B709-780B7B21A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71950"/>
            <a:ext cx="8343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5959"/>
                </a:solidFill>
                <a:latin typeface="Arial"/>
                <a:ea typeface="Arial"/>
                <a:cs typeface="Arial"/>
              </a:rPr>
              <a:t>HR публикует редакцию   ·   Сотрудник сравнивает и отвечает   ·   Руководитель видит, кто ознакомился</a:t>
            </a:r>
          </a:p>
        </p:txBody>
      </p:sp>
    </p:spTree>
    <p:extLst>
      <p:ext uri="{BB962C8B-B14F-4D97-AF65-F5344CB8AC3E}">
        <p14:creationId xmlns:p14="http://schemas.microsoft.com/office/powerpoint/2010/main" val="440310670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2026-10-18T12:00:53.6680000Z</dcterms:created>
  <dcterms:modified xsi:type="dcterms:W3CDTF">2026-10-18T12:00:53.6690000Z</dcterms:modified>
</coreProperties>
</file>